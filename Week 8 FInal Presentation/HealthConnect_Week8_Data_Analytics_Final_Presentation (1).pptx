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8FC"/>
                </a:solidFill>
              </a:defRPr>
            </a:pPr>
            <a:r>
              <a:t>HealthConnect</a:t>
            </a:r>
          </a:p>
          <a:p>
            <a:pPr>
              <a:defRPr sz="2800">
                <a:solidFill>
                  <a:srgbClr val="AAD7F5"/>
                </a:solidFill>
              </a:defRPr>
            </a:pPr>
            <a:r>
              <a:t>Week 8 Final Data Analytics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5574026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F8FC"/>
                </a:solidFill>
              </a:defRPr>
            </a:pPr>
            <a:r>
              <a:rPr dirty="0"/>
              <a:t>Final Analytics, Dashboard &amp; Business Insights</a:t>
            </a:r>
          </a:p>
          <a:p>
            <a:pPr>
              <a:defRPr sz="1600">
                <a:solidFill>
                  <a:srgbClr val="BECAD7"/>
                </a:solidFill>
              </a:defRPr>
            </a:pPr>
            <a:r>
              <a:rPr dirty="0" err="1"/>
              <a:t>HealthConnect</a:t>
            </a:r>
            <a:r>
              <a:rPr dirty="0"/>
              <a:t> Clinic Experience </a:t>
            </a:r>
            <a:r>
              <a:rPr dirty="0" smtClean="0"/>
              <a:t>Lab</a:t>
            </a:r>
            <a:endParaRPr lang="en-US" dirty="0" smtClean="0"/>
          </a:p>
          <a:p>
            <a:pPr>
              <a:defRPr sz="1600">
                <a:solidFill>
                  <a:srgbClr val="BECAD7"/>
                </a:solidFill>
              </a:defRPr>
            </a:pPr>
            <a:r>
              <a:rPr lang="en-US" smtClean="0"/>
              <a:t>By AJIBOLA AYOBAMI</a:t>
            </a:r>
          </a:p>
          <a:p>
            <a:pPr>
              <a:defRPr sz="1600">
                <a:solidFill>
                  <a:srgbClr val="BECAD7"/>
                </a:solidFill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30352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E90FF"/>
                </a:solidFill>
              </a:defRPr>
            </a:pPr>
            <a:r>
              <a:t>Data Analytics Track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7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AD7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t>Project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Analyse appointment attendance and no-show behaviour using the HealthConnect appointment dataset.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Identify patterns associated with missed appointments and validate the most important findings.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Build an interactive Power BI dashboard for KPI monitoring and decision support.</a:t>
            </a:r>
          </a:p>
          <a:p>
            <a:pPr>
              <a:spcAft>
                <a:spcPts val="1400"/>
              </a:spcAft>
              <a:defRPr sz="2000">
                <a:solidFill>
                  <a:srgbClr val="F5F8FC"/>
                </a:solidFill>
              </a:defRPr>
            </a:pPr>
            <a:r>
              <a:t>• Translate validated analytical findings into practical business recommendations.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7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AD7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t>Final Dataset &amp;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D7F5"/>
                </a:solidFill>
              </a:defRPr>
            </a:pPr>
            <a:r>
              <a:t>5,000 appointment records analysed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423160" cy="1417320"/>
          </a:xfrm>
          <a:prstGeom prst="roundRect">
            <a:avLst/>
          </a:prstGeom>
          <a:solidFill>
            <a:srgbClr val="142B44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819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8FC"/>
                </a:solidFill>
              </a:defRPr>
            </a:pPr>
            <a:r>
              <a:t>5,000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30552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BECAD7"/>
                </a:solidFill>
              </a:defRPr>
            </a:pPr>
            <a:r>
              <a:t>TOTAL APPOINTMENTS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417320"/>
            <a:ext cx="2423160" cy="1417320"/>
          </a:xfrm>
          <a:prstGeom prst="roundRect">
            <a:avLst/>
          </a:prstGeom>
          <a:solidFill>
            <a:srgbClr val="142B44"/>
          </a:solidFill>
          <a:ln>
            <a:solidFill>
              <a:srgbClr val="F27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5819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8FC"/>
                </a:solidFill>
              </a:defRPr>
            </a:pPr>
            <a:r>
              <a:t>2,423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30552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BECAD7"/>
                </a:solidFill>
              </a:defRPr>
            </a:pPr>
            <a:r>
              <a:t>NO-SHOW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2423160" cy="1417320"/>
          </a:xfrm>
          <a:prstGeom prst="roundRect">
            <a:avLst/>
          </a:prstGeom>
          <a:solidFill>
            <a:srgbClr val="142B44"/>
          </a:solidFill>
          <a:ln>
            <a:solidFill>
              <a:srgbClr val="F4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63640" y="15819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8FC"/>
                </a:solidFill>
              </a:defRPr>
            </a:pPr>
            <a:r>
              <a:t>48.46%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30552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BECAD7"/>
                </a:solidFill>
              </a:defRPr>
            </a:pPr>
            <a:r>
              <a:t>NO-SHOW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1417320"/>
            <a:ext cx="2423160" cy="1417320"/>
          </a:xfrm>
          <a:prstGeom prst="roundRect">
            <a:avLst/>
          </a:prstGeom>
          <a:solidFill>
            <a:srgbClr val="142B44"/>
          </a:solidFill>
          <a:ln>
            <a:solidFill>
              <a:srgbClr val="28B4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0" y="15819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8FC"/>
                </a:solidFill>
              </a:defRPr>
            </a:pPr>
            <a:r>
              <a:t>46.3%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130552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BECAD7"/>
                </a:solidFill>
              </a:defRPr>
            </a:pPr>
            <a:r>
              <a:t>ATTENDANCE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3246120"/>
            <a:ext cx="2423160" cy="1417320"/>
          </a:xfrm>
          <a:prstGeom prst="roundRect">
            <a:avLst/>
          </a:prstGeom>
          <a:solidFill>
            <a:srgbClr val="142B44"/>
          </a:solidFill>
          <a:ln>
            <a:solidFill>
              <a:srgbClr val="AAD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3410712"/>
            <a:ext cx="2148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5F8FC"/>
                </a:solidFill>
              </a:defRPr>
            </a:pPr>
            <a:r>
              <a:t>5.3%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959352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BECAD7"/>
                </a:solidFill>
              </a:defRPr>
            </a:pPr>
            <a:r>
              <a:t>CANCELLATION 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0060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5F8FC"/>
                </a:solidFill>
              </a:defRPr>
            </a:pPr>
            <a:r>
              <a:t>• Key variables included outcome, previous no-shows, reminders, appointment type, age group, booking lead time, distance and waiting time.</a:t>
            </a:r>
          </a:p>
          <a:p>
            <a:pPr>
              <a:spcAft>
                <a:spcPts val="1400"/>
              </a:spcAft>
              <a:defRPr sz="1500">
                <a:solidFill>
                  <a:srgbClr val="F5F8FC"/>
                </a:solidFill>
              </a:defRPr>
            </a:pPr>
            <a:r>
              <a:t>• The final KPI values were validated against the underlying dataset during Week 7.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7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AD7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t>Key Analytical Finding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D7F5"/>
                </a:solidFill>
              </a:defRPr>
            </a:pPr>
            <a:r>
              <a:t>Previous no-show history was the clearest observed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5F8FC"/>
                </a:solidFill>
              </a:defRPr>
            </a:pPr>
            <a:r>
              <a:t>• No-show rate: 0 previous no-shows = 43.51%</a:t>
            </a:r>
          </a:p>
          <a:p>
            <a:pPr>
              <a:spcAft>
                <a:spcPts val="1400"/>
              </a:spcAft>
              <a:defRPr sz="1800">
                <a:solidFill>
                  <a:srgbClr val="F5F8FC"/>
                </a:solidFill>
              </a:defRPr>
            </a:pPr>
            <a:r>
              <a:t>• 1 previous no-show = 53.49%</a:t>
            </a:r>
          </a:p>
          <a:p>
            <a:pPr>
              <a:spcAft>
                <a:spcPts val="1400"/>
              </a:spcAft>
              <a:defRPr sz="1800">
                <a:solidFill>
                  <a:srgbClr val="F5F8FC"/>
                </a:solidFill>
              </a:defRPr>
            </a:pPr>
            <a:r>
              <a:t>• 2 previous no-shows = 59.36%</a:t>
            </a:r>
          </a:p>
          <a:p>
            <a:pPr>
              <a:spcAft>
                <a:spcPts val="1400"/>
              </a:spcAft>
              <a:defRPr sz="1800">
                <a:solidFill>
                  <a:srgbClr val="F5F8FC"/>
                </a:solidFill>
              </a:defRPr>
            </a:pPr>
            <a:r>
              <a:t>• 3 previous no-shows = 67.95%</a:t>
            </a:r>
          </a:p>
          <a:p>
            <a:pPr>
              <a:spcAft>
                <a:spcPts val="1400"/>
              </a:spcAft>
              <a:defRPr sz="1800">
                <a:solidFill>
                  <a:srgbClr val="F5F8FC"/>
                </a:solidFill>
              </a:defRPr>
            </a:pPr>
            <a:r>
              <a:t>• The 4–5 previous no-show groups are very small and were therefore interpreted cautiously.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508760"/>
            <a:ext cx="4572000" cy="3566160"/>
          </a:xfrm>
          <a:prstGeom prst="roundRect">
            <a:avLst/>
          </a:prstGeom>
          <a:solidFill>
            <a:srgbClr val="142B44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03720" y="1828800"/>
            <a:ext cx="393192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90FF"/>
                </a:solidFill>
              </a:defRPr>
            </a:pPr>
            <a:r>
              <a:t>Business implication</a:t>
            </a:r>
          </a:p>
          <a:p>
            <a:pPr>
              <a:spcBef>
                <a:spcPts val="1800"/>
              </a:spcBef>
              <a:defRPr sz="1800">
                <a:solidFill>
                  <a:srgbClr val="F5F8FC"/>
                </a:solidFill>
              </a:defRPr>
            </a:pPr>
            <a:r>
              <a:t>Previous no-show history can be used as an important indicator for closer appointment monitoring and patient engagement.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7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AD7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t>Final 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D7F5"/>
                </a:solidFill>
              </a:defRPr>
            </a:pPr>
            <a:r>
              <a:t>Week 7 refined dashboard used as the final Week 8 analytics dashboard</a:t>
            </a:r>
          </a:p>
        </p:txBody>
      </p:sp>
      <p:pic>
        <p:nvPicPr>
          <p:cNvPr id="4" name="Picture 3" descr="Screenshot 2026-09-18 215313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791" y="1234440"/>
            <a:ext cx="8242111" cy="5166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7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AD7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t>Other Validated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Reminder status: 51.39% no-show rate without a reminder vs 47.36% when a reminder was recorded.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Appointment type: Follow-up had the highest observed no-show rate among the analysed appointment types (51.23%).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Age group: observed no-show rates varied across patient age segments.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Booking lead time: a broad upward pattern in observed no-show rates appeared at longer lead times.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Distance and waiting time remain useful operational variables for monitoring.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7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AD7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t>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Prioritise patients with previous no-show history for additional confirmation and engagement.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Strengthen reminder processes and monitor reminder coverage and outcomes.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Monitor appointment types with relatively higher observed no-show rates.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Monitor longer booking lead times and consider confirmation closer to appointment dates.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Continue monitoring patient segments and operational factors such as distance and waiting time.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Use small segments cautiously and avoid treating observed associations as proof of causation.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7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AD7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</a:defRPr>
            </a:pPr>
            <a:r>
              <a:t>• Provides a clearer evidence base for understanding missed appointments.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</a:defRPr>
            </a:pPr>
            <a:r>
              <a:t>• Moves beyond one overall no-show percentage to segment-level monitoring.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</a:defRPr>
            </a:pPr>
            <a:r>
              <a:t>• Supports targeted appointment-management and patient-support strategies.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</a:defRPr>
            </a:pPr>
            <a:r>
              <a:t>• Provides KPI monitoring through an interactive Power BI dashboard.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</a:defRPr>
            </a:pPr>
            <a:r>
              <a:t>• Creates a validated analytics foundation for the wider HealthConnect solution.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7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AD7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t>Limitations &amp; Outstanding Dependency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The dataset is observational; associations should not be interpreted as causal effects.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The 4–5 previous no-show groups contain very few observations.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Distance and waiting-time variables contain limited missing values.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The analysis identifies patterns but does not independently establish the causes of missed appointments.</a:t>
            </a:r>
          </a:p>
          <a:p>
            <a:pPr>
              <a:spcAft>
                <a:spcPts val="1400"/>
              </a:spcAft>
              <a:defRPr sz="1700">
                <a:solidFill>
                  <a:srgbClr val="F5F8FC"/>
                </a:solidFill>
              </a:defRPr>
            </a:pPr>
            <a:r>
              <a:t>• Cross-track feedback was not received during the submission period, so no completed cross-track outcome is claimed.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7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AD7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</a:defRPr>
            </a:pPr>
            <a:r>
              <a:t>Week 8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</a:defRPr>
            </a:pPr>
            <a:r>
              <a:t>• The HealthConnect Data Analytics work progressed from exploratory analysis to validated decision support.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</a:defRPr>
            </a:pPr>
            <a:r>
              <a:t>• The final dashboard consolidates KPIs, validated findings, filters, recommendations and supporting evidence.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</a:defRPr>
            </a:pPr>
            <a:r>
              <a:t>• Previous no-show history was the strongest observed analytical indicator in the final analysis.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</a:defRPr>
            </a:pPr>
            <a:r>
              <a:t>• The output provides a practical foundation for more focused appointment-management decisions.</a:t>
            </a:r>
          </a:p>
          <a:p>
            <a:pPr>
              <a:spcAft>
                <a:spcPts val="1400"/>
              </a:spcAft>
              <a:defRPr sz="1900">
                <a:solidFill>
                  <a:srgbClr val="F5F8FC"/>
                </a:solidFill>
              </a:defRPr>
            </a:pPr>
            <a:r>
              <a:t>• Next step: integrate relevant analytics findings into the wider HealthConnect solution and continue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E90FF"/>
                </a:solidFill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375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ECAD7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626</Words>
  <Application>Microsoft Office PowerPoint</Application>
  <PresentationFormat>Widescreen</PresentationFormat>
  <Paragraphs>78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2026-09-24T17:12:11Z</dcterms:modified>
  <cp:category/>
</cp:coreProperties>
</file>