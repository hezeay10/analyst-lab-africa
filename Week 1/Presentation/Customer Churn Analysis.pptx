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8/6/2026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Customer Churn Analysis</a:t>
            </a:r>
            <a:r>
              <a:rPr lang="en-US" dirty="0"/>
              <a:t/>
            </a:r>
            <a:br>
              <a:rPr lang="en-US" dirty="0"/>
            </a:br>
            <a:r>
              <a:rPr lang="en-US" b="1" dirty="0"/>
              <a:t>Business Analytics Case </a:t>
            </a:r>
            <a:r>
              <a:rPr lang="en-US" b="1" dirty="0" smtClean="0"/>
              <a:t>Study</a:t>
            </a:r>
            <a:r>
              <a:rPr lang="en-US" b="1" dirty="0"/>
              <a:t/>
            </a:r>
            <a:br>
              <a:rPr lang="en-US" b="1" dirty="0"/>
            </a:br>
            <a:r>
              <a:rPr lang="en-US" sz="3000" b="1" dirty="0" smtClean="0"/>
              <a:t>ANALYSTLAB AFRICA DATA ANALYTICS INTERNSHIP</a:t>
            </a:r>
            <a:endParaRPr lang="en-US" dirty="0"/>
          </a:p>
        </p:txBody>
      </p:sp>
      <p:sp>
        <p:nvSpPr>
          <p:cNvPr id="3" name="Subtitle 2"/>
          <p:cNvSpPr>
            <a:spLocks noGrp="1"/>
          </p:cNvSpPr>
          <p:nvPr>
            <p:ph type="subTitle" idx="1"/>
          </p:nvPr>
        </p:nvSpPr>
        <p:spPr/>
        <p:txBody>
          <a:bodyPr/>
          <a:lstStyle/>
          <a:p>
            <a:r>
              <a:rPr lang="en-US" b="1" dirty="0"/>
              <a:t>Prepared by</a:t>
            </a:r>
            <a:endParaRPr lang="en-US" dirty="0"/>
          </a:p>
          <a:p>
            <a:r>
              <a:rPr lang="en-US" b="1" dirty="0"/>
              <a:t>AYOBAMI AJIBOLA</a:t>
            </a:r>
            <a:endParaRPr lang="en-US" dirty="0"/>
          </a:p>
          <a:p>
            <a:r>
              <a:rPr lang="en-US" dirty="0"/>
              <a:t>August 2026</a:t>
            </a:r>
          </a:p>
          <a:p>
            <a:endParaRPr lang="en-US" dirty="0"/>
          </a:p>
        </p:txBody>
      </p:sp>
    </p:spTree>
    <p:extLst>
      <p:ext uri="{BB962C8B-B14F-4D97-AF65-F5344CB8AC3E}">
        <p14:creationId xmlns:p14="http://schemas.microsoft.com/office/powerpoint/2010/main" val="20495213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1219202"/>
            <a:ext cx="8534400" cy="4775198"/>
          </a:xfrm>
        </p:spPr>
        <p:txBody>
          <a:bodyPr>
            <a:normAutofit fontScale="90000"/>
          </a:bodyPr>
          <a:lstStyle/>
          <a:p>
            <a:pPr>
              <a:lnSpc>
                <a:spcPct val="150000"/>
              </a:lnSpc>
            </a:pPr>
            <a:r>
              <a:rPr lang="en-US" sz="2000" b="1" dirty="0"/>
              <a:t>Project Objective</a:t>
            </a:r>
            <a:br>
              <a:rPr lang="en-US" sz="2000" b="1" dirty="0"/>
            </a:br>
            <a:r>
              <a:rPr lang="en-US" sz="2000" dirty="0"/>
              <a:t>The objective of this project was to analyze customer churn data to identify factors affecting customer retention and provide data-driven recommendations to improve business performance.</a:t>
            </a:r>
            <a:br>
              <a:rPr lang="en-US" sz="2000" dirty="0"/>
            </a:br>
            <a:r>
              <a:rPr lang="en-US" sz="2000" dirty="0" smtClean="0"/>
              <a:t/>
            </a:r>
            <a:br>
              <a:rPr lang="en-US" sz="2000" dirty="0" smtClean="0"/>
            </a:br>
            <a:r>
              <a:rPr lang="en-US" sz="2000" b="1" dirty="0" smtClean="0"/>
              <a:t>Tools </a:t>
            </a:r>
            <a:r>
              <a:rPr lang="en-US" sz="2000" b="1" dirty="0"/>
              <a:t>Used</a:t>
            </a:r>
            <a:br>
              <a:rPr lang="en-US" sz="2000" b="1" dirty="0"/>
            </a:br>
            <a:r>
              <a:rPr lang="en-US" sz="2000" dirty="0"/>
              <a:t>Python </a:t>
            </a:r>
            <a:br>
              <a:rPr lang="en-US" sz="2000" dirty="0"/>
            </a:br>
            <a:r>
              <a:rPr lang="en-US" sz="2000" dirty="0" err="1"/>
              <a:t>Jupyter</a:t>
            </a:r>
            <a:r>
              <a:rPr lang="en-US" sz="2000" dirty="0"/>
              <a:t> Notebook </a:t>
            </a:r>
            <a:br>
              <a:rPr lang="en-US" sz="2000" dirty="0"/>
            </a:br>
            <a:r>
              <a:rPr lang="en-US" sz="2000" dirty="0"/>
              <a:t>Pandas </a:t>
            </a:r>
            <a:br>
              <a:rPr lang="en-US" sz="2000" dirty="0"/>
            </a:br>
            <a:r>
              <a:rPr lang="en-US" sz="2000" dirty="0" err="1"/>
              <a:t>NumPy</a:t>
            </a:r>
            <a:r>
              <a:rPr lang="en-US" sz="2000" dirty="0"/>
              <a:t> </a:t>
            </a:r>
            <a:br>
              <a:rPr lang="en-US" sz="2000" dirty="0"/>
            </a:br>
            <a:r>
              <a:rPr lang="en-US" sz="2000" dirty="0" err="1"/>
              <a:t>Matplotlib</a:t>
            </a:r>
            <a:r>
              <a:rPr lang="en-US" sz="2000" dirty="0"/>
              <a:t> </a:t>
            </a:r>
            <a:br>
              <a:rPr lang="en-US" sz="2000" dirty="0"/>
            </a:br>
            <a:r>
              <a:rPr lang="en-US" sz="2000" dirty="0" err="1"/>
              <a:t>Seaborn</a:t>
            </a:r>
            <a:r>
              <a:rPr lang="en-US" sz="2000" dirty="0"/>
              <a:t/>
            </a:r>
            <a:br>
              <a:rPr lang="en-US" sz="2000" dirty="0"/>
            </a:br>
            <a:endParaRPr lang="en-US" sz="2000" dirty="0"/>
          </a:p>
        </p:txBody>
      </p:sp>
      <p:sp>
        <p:nvSpPr>
          <p:cNvPr id="3" name="Content Placeholder 2"/>
          <p:cNvSpPr>
            <a:spLocks noGrp="1"/>
          </p:cNvSpPr>
          <p:nvPr>
            <p:ph idx="1"/>
          </p:nvPr>
        </p:nvSpPr>
        <p:spPr>
          <a:xfrm>
            <a:off x="684212" y="138546"/>
            <a:ext cx="8534400" cy="637309"/>
          </a:xfrm>
        </p:spPr>
        <p:txBody>
          <a:bodyPr>
            <a:normAutofit/>
          </a:bodyPr>
          <a:lstStyle/>
          <a:p>
            <a:r>
              <a:rPr lang="en-US" dirty="0"/>
              <a:t>Project Overview</a:t>
            </a:r>
          </a:p>
        </p:txBody>
      </p:sp>
    </p:spTree>
    <p:extLst>
      <p:ext uri="{BB962C8B-B14F-4D97-AF65-F5344CB8AC3E}">
        <p14:creationId xmlns:p14="http://schemas.microsoft.com/office/powerpoint/2010/main" val="9486476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212" y="685801"/>
            <a:ext cx="8534400" cy="710086"/>
          </a:xfrm>
        </p:spPr>
        <p:txBody>
          <a:bodyPr>
            <a:normAutofit fontScale="92500" lnSpcReduction="20000"/>
          </a:bodyPr>
          <a:lstStyle/>
          <a:p>
            <a:r>
              <a:rPr lang="en-US" dirty="0"/>
              <a:t>Dataset </a:t>
            </a:r>
            <a:r>
              <a:rPr lang="en-US" dirty="0" smtClean="0"/>
              <a:t>Overview</a:t>
            </a:r>
          </a:p>
          <a:p>
            <a:r>
              <a:rPr lang="en-US" altLang="en-US" b="1" dirty="0">
                <a:solidFill>
                  <a:schemeClr val="tx1"/>
                </a:solidFill>
                <a:latin typeface="Arial" panose="020B0604020202020204" pitchFamily="34" charset="0"/>
              </a:rPr>
              <a:t>Dataset Summary</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664478668"/>
              </p:ext>
            </p:extLst>
          </p:nvPr>
        </p:nvGraphicFramePr>
        <p:xfrm>
          <a:off x="684213" y="1395887"/>
          <a:ext cx="8534400" cy="4561566"/>
        </p:xfrm>
        <a:graphic>
          <a:graphicData uri="http://schemas.openxmlformats.org/drawingml/2006/table">
            <a:tbl>
              <a:tblPr/>
              <a:tblGrid>
                <a:gridCol w="4267200"/>
                <a:gridCol w="4267200"/>
              </a:tblGrid>
              <a:tr h="760261">
                <a:tc>
                  <a:txBody>
                    <a:bodyPr/>
                    <a:lstStyle/>
                    <a:p>
                      <a:r>
                        <a:rPr lang="en-US" dirty="0"/>
                        <a:t>Item</a:t>
                      </a:r>
                    </a:p>
                  </a:txBody>
                  <a:tcPr anchor="ctr">
                    <a:lnL>
                      <a:noFill/>
                    </a:lnL>
                    <a:lnR>
                      <a:noFill/>
                    </a:lnR>
                    <a:lnT>
                      <a:noFill/>
                    </a:lnT>
                    <a:lnB>
                      <a:noFill/>
                    </a:lnB>
                  </a:tcPr>
                </a:tc>
                <a:tc>
                  <a:txBody>
                    <a:bodyPr/>
                    <a:lstStyle/>
                    <a:p>
                      <a:r>
                        <a:rPr lang="en-US"/>
                        <a:t>Value</a:t>
                      </a:r>
                    </a:p>
                  </a:txBody>
                  <a:tcPr anchor="ctr">
                    <a:lnL>
                      <a:noFill/>
                    </a:lnL>
                    <a:lnR>
                      <a:noFill/>
                    </a:lnR>
                    <a:lnT>
                      <a:noFill/>
                    </a:lnT>
                    <a:lnB>
                      <a:noFill/>
                    </a:lnB>
                  </a:tcPr>
                </a:tc>
              </a:tr>
              <a:tr h="760261">
                <a:tc>
                  <a:txBody>
                    <a:bodyPr/>
                    <a:lstStyle/>
                    <a:p>
                      <a:r>
                        <a:rPr lang="en-US"/>
                        <a:t>Original Records</a:t>
                      </a:r>
                    </a:p>
                  </a:txBody>
                  <a:tcPr anchor="ctr">
                    <a:lnL>
                      <a:noFill/>
                    </a:lnL>
                    <a:lnR>
                      <a:noFill/>
                    </a:lnR>
                    <a:lnT>
                      <a:noFill/>
                    </a:lnT>
                    <a:lnB>
                      <a:noFill/>
                    </a:lnB>
                  </a:tcPr>
                </a:tc>
                <a:tc>
                  <a:txBody>
                    <a:bodyPr/>
                    <a:lstStyle/>
                    <a:p>
                      <a:r>
                        <a:rPr lang="en-US"/>
                        <a:t>7,043</a:t>
                      </a:r>
                    </a:p>
                  </a:txBody>
                  <a:tcPr anchor="ctr">
                    <a:lnL>
                      <a:noFill/>
                    </a:lnL>
                    <a:lnR>
                      <a:noFill/>
                    </a:lnR>
                    <a:lnT>
                      <a:noFill/>
                    </a:lnT>
                    <a:lnB>
                      <a:noFill/>
                    </a:lnB>
                  </a:tcPr>
                </a:tc>
              </a:tr>
              <a:tr h="760261">
                <a:tc>
                  <a:txBody>
                    <a:bodyPr/>
                    <a:lstStyle/>
                    <a:p>
                      <a:r>
                        <a:rPr lang="en-US" dirty="0"/>
                        <a:t>Cleaned Records</a:t>
                      </a:r>
                    </a:p>
                  </a:txBody>
                  <a:tcPr anchor="ctr">
                    <a:lnL>
                      <a:noFill/>
                    </a:lnL>
                    <a:lnR>
                      <a:noFill/>
                    </a:lnR>
                    <a:lnT>
                      <a:noFill/>
                    </a:lnT>
                    <a:lnB>
                      <a:noFill/>
                    </a:lnB>
                  </a:tcPr>
                </a:tc>
                <a:tc>
                  <a:txBody>
                    <a:bodyPr/>
                    <a:lstStyle/>
                    <a:p>
                      <a:r>
                        <a:rPr lang="en-US"/>
                        <a:t>7,032</a:t>
                      </a:r>
                    </a:p>
                  </a:txBody>
                  <a:tcPr anchor="ctr">
                    <a:lnL>
                      <a:noFill/>
                    </a:lnL>
                    <a:lnR>
                      <a:noFill/>
                    </a:lnR>
                    <a:lnT>
                      <a:noFill/>
                    </a:lnT>
                    <a:lnB>
                      <a:noFill/>
                    </a:lnB>
                  </a:tcPr>
                </a:tc>
              </a:tr>
              <a:tr h="760261">
                <a:tc>
                  <a:txBody>
                    <a:bodyPr/>
                    <a:lstStyle/>
                    <a:p>
                      <a:r>
                        <a:rPr lang="en-US"/>
                        <a:t>Variables</a:t>
                      </a:r>
                    </a:p>
                  </a:txBody>
                  <a:tcPr anchor="ctr">
                    <a:lnL>
                      <a:noFill/>
                    </a:lnL>
                    <a:lnR>
                      <a:noFill/>
                    </a:lnR>
                    <a:lnT>
                      <a:noFill/>
                    </a:lnT>
                    <a:lnB>
                      <a:noFill/>
                    </a:lnB>
                  </a:tcPr>
                </a:tc>
                <a:tc>
                  <a:txBody>
                    <a:bodyPr/>
                    <a:lstStyle/>
                    <a:p>
                      <a:r>
                        <a:rPr lang="en-US"/>
                        <a:t>21</a:t>
                      </a:r>
                    </a:p>
                  </a:txBody>
                  <a:tcPr anchor="ctr">
                    <a:lnL>
                      <a:noFill/>
                    </a:lnL>
                    <a:lnR>
                      <a:noFill/>
                    </a:lnR>
                    <a:lnT>
                      <a:noFill/>
                    </a:lnT>
                    <a:lnB>
                      <a:noFill/>
                    </a:lnB>
                  </a:tcPr>
                </a:tc>
              </a:tr>
              <a:tr h="760261">
                <a:tc>
                  <a:txBody>
                    <a:bodyPr/>
                    <a:lstStyle/>
                    <a:p>
                      <a:r>
                        <a:rPr lang="en-US" dirty="0"/>
                        <a:t>Duplicate Records</a:t>
                      </a:r>
                    </a:p>
                  </a:txBody>
                  <a:tcPr anchor="ctr">
                    <a:lnL>
                      <a:noFill/>
                    </a:lnL>
                    <a:lnR>
                      <a:noFill/>
                    </a:lnR>
                    <a:lnT>
                      <a:noFill/>
                    </a:lnT>
                    <a:lnB>
                      <a:noFill/>
                    </a:lnB>
                  </a:tcPr>
                </a:tc>
                <a:tc>
                  <a:txBody>
                    <a:bodyPr/>
                    <a:lstStyle/>
                    <a:p>
                      <a:r>
                        <a:rPr lang="en-US" dirty="0"/>
                        <a:t>0</a:t>
                      </a:r>
                    </a:p>
                  </a:txBody>
                  <a:tcPr anchor="ctr">
                    <a:lnL>
                      <a:noFill/>
                    </a:lnL>
                    <a:lnR>
                      <a:noFill/>
                    </a:lnR>
                    <a:lnT>
                      <a:noFill/>
                    </a:lnT>
                    <a:lnB>
                      <a:noFill/>
                    </a:lnB>
                  </a:tcPr>
                </a:tc>
              </a:tr>
              <a:tr h="760261">
                <a:tc>
                  <a:txBody>
                    <a:bodyPr/>
                    <a:lstStyle/>
                    <a:p>
                      <a:r>
                        <a:rPr lang="en-US" dirty="0"/>
                        <a:t>Blank Values Removed</a:t>
                      </a:r>
                    </a:p>
                  </a:txBody>
                  <a:tcPr anchor="ctr">
                    <a:lnL>
                      <a:noFill/>
                    </a:lnL>
                    <a:lnR>
                      <a:noFill/>
                    </a:lnR>
                    <a:lnT>
                      <a:noFill/>
                    </a:lnT>
                    <a:lnB>
                      <a:noFill/>
                    </a:lnB>
                  </a:tcPr>
                </a:tc>
                <a:tc>
                  <a:txBody>
                    <a:bodyPr/>
                    <a:lstStyle/>
                    <a:p>
                      <a:r>
                        <a:rPr lang="en-US" dirty="0"/>
                        <a:t>11</a:t>
                      </a:r>
                    </a:p>
                  </a:txBody>
                  <a:tcPr anchor="ctr">
                    <a:lnL>
                      <a:noFill/>
                    </a:lnL>
                    <a:lnR>
                      <a:noFill/>
                    </a:lnR>
                    <a:lnT>
                      <a:noFill/>
                    </a:lnT>
                    <a:lnB>
                      <a:noFill/>
                    </a:lnB>
                  </a:tcPr>
                </a:tc>
              </a:tr>
            </a:tbl>
          </a:graphicData>
        </a:graphic>
      </p:graphicFrame>
      <p:sp>
        <p:nvSpPr>
          <p:cNvPr id="8" name="Rectangle 2"/>
          <p:cNvSpPr>
            <a:spLocks noGrp="1" noChangeArrowheads="1"/>
          </p:cNvSpPr>
          <p:nvPr>
            <p:ph type="title"/>
          </p:nvPr>
        </p:nvSpPr>
        <p:spPr bwMode="auto">
          <a:xfrm>
            <a:off x="684213" y="33760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38863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212" y="138546"/>
            <a:ext cx="8534400" cy="1330036"/>
          </a:xfrm>
        </p:spPr>
        <p:txBody>
          <a:bodyPr/>
          <a:lstStyle/>
          <a:p>
            <a:r>
              <a:rPr lang="en-US" dirty="0" smtClean="0"/>
              <a:t>Data Cleaning</a:t>
            </a:r>
            <a:endParaRPr lang="en-US" dirty="0"/>
          </a:p>
        </p:txBody>
      </p:sp>
      <p:sp>
        <p:nvSpPr>
          <p:cNvPr id="4" name="Rectangle 1"/>
          <p:cNvSpPr>
            <a:spLocks noGrp="1" noChangeArrowheads="1"/>
          </p:cNvSpPr>
          <p:nvPr>
            <p:ph type="title"/>
          </p:nvPr>
        </p:nvSpPr>
        <p:spPr bwMode="auto">
          <a:xfrm>
            <a:off x="2282103" y="2159509"/>
            <a:ext cx="6566333" cy="299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Inspected dataset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Converted</a:t>
            </a:r>
            <a:r>
              <a:rPr kumimoji="0" lang="en-US" altLang="en-US" sz="2000" b="0" i="0" u="none" strike="noStrike" cap="none" normalizeH="0" dirty="0" smtClean="0">
                <a:ln>
                  <a:noFill/>
                </a:ln>
                <a:solidFill>
                  <a:schemeClr val="tx1"/>
                </a:solidFill>
                <a:effectLst/>
                <a:latin typeface="Arial" panose="020B0604020202020204" pitchFamily="34" charset="0"/>
              </a:rPr>
              <a:t> Total charge to Numeric</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Removed blank records </a:t>
            </a:r>
          </a:p>
          <a:p>
            <a:pPr lvl="0" defTabSz="914400" eaLnBrk="0" fontAlgn="base" hangingPunct="0">
              <a:lnSpc>
                <a:spcPct val="150000"/>
              </a:lnSpc>
              <a:spcAft>
                <a:spcPct val="0"/>
              </a:spcAft>
              <a:buFontTx/>
              <a:buChar char="•"/>
            </a:pPr>
            <a:r>
              <a:rPr kumimoji="0" lang="en-US" altLang="en-US" sz="2000" b="0" i="0" u="none" strike="noStrike" cap="none" normalizeH="0" baseline="0" dirty="0" smtClean="0">
                <a:ln>
                  <a:noFill/>
                </a:ln>
                <a:solidFill>
                  <a:schemeClr val="tx1"/>
                </a:solidFill>
                <a:effectLst/>
                <a:latin typeface="Arial" panose="020B0604020202020204" pitchFamily="34" charset="0"/>
              </a:rPr>
              <a:t>Verified data quality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lang="en-US" altLang="en-US" sz="1800" cap="none" dirty="0">
                <a:ln>
                  <a:noFill/>
                </a:ln>
                <a:latin typeface="Arial" panose="020B0604020202020204" pitchFamily="34" charset="0"/>
              </a:rPr>
              <a:t/>
            </a:r>
            <a:br>
              <a:rPr lang="en-US" altLang="en-US" sz="1800" cap="none" dirty="0">
                <a:ln>
                  <a:noFill/>
                </a:ln>
                <a:latin typeface="Arial" panose="020B0604020202020204" pitchFamily="34" charset="0"/>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83293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840510"/>
            <a:ext cx="10759643" cy="5153890"/>
          </a:xfrm>
        </p:spPr>
        <p:txBody>
          <a:bodyPr>
            <a:normAutofit/>
          </a:bodyPr>
          <a:lstStyle/>
          <a:p>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b="1" dirty="0" smtClean="0"/>
              <a:t>Key </a:t>
            </a:r>
            <a:r>
              <a:rPr lang="en-US" sz="1800" b="1" dirty="0"/>
              <a:t>Findings</a:t>
            </a:r>
            <a:br>
              <a:rPr lang="en-US" sz="1800" b="1" dirty="0"/>
            </a:br>
            <a:r>
              <a:rPr lang="en-US" sz="1800" dirty="0"/>
              <a:t>Customer base is nearly evenly split between male and female customers. </a:t>
            </a:r>
            <a:br>
              <a:rPr lang="en-US" sz="1800" dirty="0"/>
            </a:br>
            <a:r>
              <a:rPr lang="en-US" sz="1800" dirty="0"/>
              <a:t>Most customers remained with the company, while a smaller group churned. </a:t>
            </a:r>
            <a:br>
              <a:rPr lang="en-US" sz="1800" dirty="0"/>
            </a:br>
            <a:endParaRPr lang="en-US" sz="1800" dirty="0"/>
          </a:p>
        </p:txBody>
      </p:sp>
      <p:sp>
        <p:nvSpPr>
          <p:cNvPr id="3" name="Content Placeholder 2"/>
          <p:cNvSpPr>
            <a:spLocks noGrp="1"/>
          </p:cNvSpPr>
          <p:nvPr>
            <p:ph idx="1"/>
          </p:nvPr>
        </p:nvSpPr>
        <p:spPr>
          <a:xfrm>
            <a:off x="684212" y="166256"/>
            <a:ext cx="8534400" cy="674253"/>
          </a:xfrm>
        </p:spPr>
        <p:txBody>
          <a:bodyPr/>
          <a:lstStyle/>
          <a:p>
            <a:r>
              <a:rPr lang="en-US" b="1" dirty="0"/>
              <a:t>Customer Demographics</a:t>
            </a:r>
          </a:p>
        </p:txBody>
      </p:sp>
      <p:pic>
        <p:nvPicPr>
          <p:cNvPr id="4" name="Picture 3"/>
          <p:cNvPicPr/>
          <p:nvPr/>
        </p:nvPicPr>
        <p:blipFill>
          <a:blip r:embed="rId2"/>
          <a:stretch>
            <a:fillRect/>
          </a:stretch>
        </p:blipFill>
        <p:spPr>
          <a:xfrm>
            <a:off x="989301" y="840509"/>
            <a:ext cx="4728008" cy="3486439"/>
          </a:xfrm>
          <a:prstGeom prst="rect">
            <a:avLst/>
          </a:prstGeom>
        </p:spPr>
      </p:pic>
      <p:pic>
        <p:nvPicPr>
          <p:cNvPr id="5" name="Picture 4"/>
          <p:cNvPicPr/>
          <p:nvPr/>
        </p:nvPicPr>
        <p:blipFill>
          <a:blip r:embed="rId3"/>
          <a:stretch>
            <a:fillRect/>
          </a:stretch>
        </p:blipFill>
        <p:spPr>
          <a:xfrm>
            <a:off x="6064032" y="840509"/>
            <a:ext cx="4631677" cy="3486439"/>
          </a:xfrm>
          <a:prstGeom prst="rect">
            <a:avLst/>
          </a:prstGeom>
        </p:spPr>
      </p:pic>
    </p:spTree>
    <p:extLst>
      <p:ext uri="{BB962C8B-B14F-4D97-AF65-F5344CB8AC3E}">
        <p14:creationId xmlns:p14="http://schemas.microsoft.com/office/powerpoint/2010/main" val="14061770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905164"/>
            <a:ext cx="10427133" cy="5375563"/>
          </a:xfrm>
        </p:spPr>
        <p:txBody>
          <a:bodyPr>
            <a:normAutofit/>
          </a:bodyPr>
          <a:lstStyle/>
          <a:p>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a:t/>
            </a:r>
            <a:br>
              <a:rPr lang="en-US" sz="1800" b="1" dirty="0"/>
            </a:br>
            <a:r>
              <a:rPr lang="en-US" sz="1800" b="1" dirty="0" smtClean="0"/>
              <a:t/>
            </a:r>
            <a:br>
              <a:rPr lang="en-US" sz="1800" b="1" dirty="0" smtClean="0"/>
            </a:br>
            <a:r>
              <a:rPr lang="en-US" sz="1800" b="1" dirty="0" smtClean="0"/>
              <a:t>Key </a:t>
            </a:r>
            <a:r>
              <a:rPr lang="en-US" sz="1800" b="1" dirty="0"/>
              <a:t>Insight</a:t>
            </a:r>
            <a:br>
              <a:rPr lang="en-US" sz="1800" b="1" dirty="0"/>
            </a:br>
            <a:r>
              <a:rPr lang="en-US" sz="1800" dirty="0"/>
              <a:t>Customers on month-to-month contracts experience significantly higher churn than those on one-year or two-year contracts.</a:t>
            </a:r>
          </a:p>
        </p:txBody>
      </p:sp>
      <p:sp>
        <p:nvSpPr>
          <p:cNvPr id="3" name="Content Placeholder 2"/>
          <p:cNvSpPr>
            <a:spLocks noGrp="1"/>
          </p:cNvSpPr>
          <p:nvPr>
            <p:ph idx="1"/>
          </p:nvPr>
        </p:nvSpPr>
        <p:spPr>
          <a:xfrm>
            <a:off x="684212" y="390236"/>
            <a:ext cx="8534400" cy="653473"/>
          </a:xfrm>
        </p:spPr>
        <p:txBody>
          <a:bodyPr/>
          <a:lstStyle/>
          <a:p>
            <a:r>
              <a:rPr lang="en-US" b="1" dirty="0"/>
              <a:t>Contract Type Analysis</a:t>
            </a:r>
          </a:p>
        </p:txBody>
      </p:sp>
      <p:pic>
        <p:nvPicPr>
          <p:cNvPr id="4" name="Picture 3"/>
          <p:cNvPicPr/>
          <p:nvPr/>
        </p:nvPicPr>
        <p:blipFill>
          <a:blip r:embed="rId2"/>
          <a:stretch>
            <a:fillRect/>
          </a:stretch>
        </p:blipFill>
        <p:spPr>
          <a:xfrm>
            <a:off x="790199" y="905163"/>
            <a:ext cx="4859209" cy="4045701"/>
          </a:xfrm>
          <a:prstGeom prst="rect">
            <a:avLst/>
          </a:prstGeom>
        </p:spPr>
      </p:pic>
      <p:pic>
        <p:nvPicPr>
          <p:cNvPr id="5" name="Picture 4"/>
          <p:cNvPicPr/>
          <p:nvPr/>
        </p:nvPicPr>
        <p:blipFill>
          <a:blip r:embed="rId3"/>
          <a:stretch>
            <a:fillRect/>
          </a:stretch>
        </p:blipFill>
        <p:spPr>
          <a:xfrm>
            <a:off x="5787952" y="905165"/>
            <a:ext cx="5184848" cy="4045699"/>
          </a:xfrm>
          <a:prstGeom prst="rect">
            <a:avLst/>
          </a:prstGeom>
        </p:spPr>
      </p:pic>
    </p:spTree>
    <p:extLst>
      <p:ext uri="{BB962C8B-B14F-4D97-AF65-F5344CB8AC3E}">
        <p14:creationId xmlns:p14="http://schemas.microsoft.com/office/powerpoint/2010/main" val="1979237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822036"/>
            <a:ext cx="10639570" cy="6035964"/>
          </a:xfrm>
        </p:spPr>
        <p:txBody>
          <a:bodyPr>
            <a:normAutofit fontScale="90000"/>
          </a:bodyPr>
          <a:lstStyle/>
          <a:p>
            <a:r>
              <a:rPr lang="en-US" b="1" dirty="0" smtClean="0"/>
              <a:t/>
            </a:r>
            <a:br>
              <a:rPr lang="en-US" b="1" dirty="0" smtClean="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a:t/>
            </a:r>
            <a:br>
              <a:rPr lang="en-US" b="1" dirty="0"/>
            </a:br>
            <a:r>
              <a:rPr lang="en-US" b="1" dirty="0"/>
              <a:t/>
            </a:r>
            <a:br>
              <a:rPr lang="en-US" b="1" dirty="0"/>
            </a:br>
            <a:r>
              <a:rPr lang="en-US" b="1" dirty="0" smtClean="0"/>
              <a:t/>
            </a:r>
            <a:br>
              <a:rPr lang="en-US" b="1" dirty="0" smtClean="0"/>
            </a:br>
            <a:r>
              <a:rPr lang="en-US" b="1" dirty="0" smtClean="0"/>
              <a:t/>
            </a:r>
            <a:br>
              <a:rPr lang="en-US" b="1" dirty="0" smtClean="0"/>
            </a:br>
            <a:r>
              <a:rPr lang="en-US" b="1" dirty="0"/>
              <a:t/>
            </a:r>
            <a:br>
              <a:rPr lang="en-US" b="1" dirty="0"/>
            </a:br>
            <a:r>
              <a:rPr lang="en-US" sz="1400" b="1" dirty="0" smtClean="0"/>
              <a:t>Key </a:t>
            </a:r>
            <a:r>
              <a:rPr lang="en-US" sz="1400" b="1" dirty="0"/>
              <a:t>Findings</a:t>
            </a:r>
            <a:br>
              <a:rPr lang="en-US" sz="1400" b="1" dirty="0"/>
            </a:br>
            <a:r>
              <a:rPr lang="en-US" sz="1400" dirty="0"/>
              <a:t>Newer customers are more likely </a:t>
            </a:r>
            <a:r>
              <a:rPr lang="en-US" sz="1400" dirty="0" smtClean="0"/>
              <a:t/>
            </a:r>
            <a:br>
              <a:rPr lang="en-US" sz="1400" dirty="0" smtClean="0"/>
            </a:br>
            <a:r>
              <a:rPr lang="en-US" sz="1400" dirty="0" smtClean="0"/>
              <a:t>to </a:t>
            </a:r>
            <a:r>
              <a:rPr lang="en-US" sz="1400" dirty="0"/>
              <a:t>churn. </a:t>
            </a:r>
            <a:br>
              <a:rPr lang="en-US" sz="1400" dirty="0"/>
            </a:br>
            <a:r>
              <a:rPr lang="en-US" sz="1400" dirty="0"/>
              <a:t>Higher monthly charges are associated </a:t>
            </a:r>
            <a:r>
              <a:rPr lang="en-US" sz="1400" dirty="0" smtClean="0"/>
              <a:t/>
            </a:r>
            <a:br>
              <a:rPr lang="en-US" sz="1400" dirty="0" smtClean="0"/>
            </a:br>
            <a:r>
              <a:rPr lang="en-US" sz="1400" dirty="0" smtClean="0"/>
              <a:t>with </a:t>
            </a:r>
            <a:r>
              <a:rPr lang="en-US" sz="1400" dirty="0"/>
              <a:t>increased churn</a:t>
            </a:r>
            <a:r>
              <a:rPr lang="en-US" sz="1800" dirty="0"/>
              <a:t>.</a:t>
            </a:r>
            <a:br>
              <a:rPr lang="en-US" sz="1800" dirty="0"/>
            </a:br>
            <a:endParaRPr lang="en-US" sz="1800" dirty="0"/>
          </a:p>
        </p:txBody>
      </p:sp>
      <p:sp>
        <p:nvSpPr>
          <p:cNvPr id="3" name="Content Placeholder 2"/>
          <p:cNvSpPr>
            <a:spLocks noGrp="1"/>
          </p:cNvSpPr>
          <p:nvPr>
            <p:ph idx="1"/>
          </p:nvPr>
        </p:nvSpPr>
        <p:spPr>
          <a:xfrm>
            <a:off x="684212" y="1"/>
            <a:ext cx="8534400" cy="600364"/>
          </a:xfrm>
        </p:spPr>
        <p:txBody>
          <a:bodyPr/>
          <a:lstStyle/>
          <a:p>
            <a:r>
              <a:rPr lang="en-US" b="1" dirty="0"/>
              <a:t>Customer </a:t>
            </a:r>
            <a:r>
              <a:rPr lang="en-US" b="1" dirty="0" err="1"/>
              <a:t>Behaviour</a:t>
            </a:r>
            <a:endParaRPr lang="en-US" b="1" dirty="0"/>
          </a:p>
        </p:txBody>
      </p:sp>
      <p:pic>
        <p:nvPicPr>
          <p:cNvPr id="4" name="Picture 3"/>
          <p:cNvPicPr/>
          <p:nvPr/>
        </p:nvPicPr>
        <p:blipFill>
          <a:blip r:embed="rId2"/>
          <a:stretch>
            <a:fillRect/>
          </a:stretch>
        </p:blipFill>
        <p:spPr>
          <a:xfrm>
            <a:off x="111558" y="540817"/>
            <a:ext cx="5808951" cy="3456305"/>
          </a:xfrm>
          <a:prstGeom prst="rect">
            <a:avLst/>
          </a:prstGeom>
        </p:spPr>
      </p:pic>
      <p:pic>
        <p:nvPicPr>
          <p:cNvPr id="5" name="Picture 4"/>
          <p:cNvPicPr/>
          <p:nvPr/>
        </p:nvPicPr>
        <p:blipFill>
          <a:blip r:embed="rId3"/>
          <a:stretch>
            <a:fillRect/>
          </a:stretch>
        </p:blipFill>
        <p:spPr>
          <a:xfrm>
            <a:off x="6073270" y="300183"/>
            <a:ext cx="5823166" cy="3456305"/>
          </a:xfrm>
          <a:prstGeom prst="rect">
            <a:avLst/>
          </a:prstGeom>
        </p:spPr>
      </p:pic>
      <p:pic>
        <p:nvPicPr>
          <p:cNvPr id="6" name="Picture 5"/>
          <p:cNvPicPr/>
          <p:nvPr/>
        </p:nvPicPr>
        <p:blipFill>
          <a:blip r:embed="rId4"/>
          <a:stretch>
            <a:fillRect/>
          </a:stretch>
        </p:blipFill>
        <p:spPr>
          <a:xfrm>
            <a:off x="4775200" y="3826741"/>
            <a:ext cx="6031346" cy="2961005"/>
          </a:xfrm>
          <a:prstGeom prst="rect">
            <a:avLst/>
          </a:prstGeom>
        </p:spPr>
      </p:pic>
    </p:spTree>
    <p:extLst>
      <p:ext uri="{BB962C8B-B14F-4D97-AF65-F5344CB8AC3E}">
        <p14:creationId xmlns:p14="http://schemas.microsoft.com/office/powerpoint/2010/main" val="20411284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415636"/>
            <a:ext cx="10787352" cy="6326909"/>
          </a:xfrm>
        </p:spPr>
        <p:txBody>
          <a:bodyPr>
            <a:normAutofit fontScale="90000"/>
          </a:bodyPr>
          <a:lstStyle/>
          <a:p>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a:t/>
            </a:r>
            <a:br>
              <a:rPr lang="en-US" sz="1600" b="1" dirty="0"/>
            </a:br>
            <a:r>
              <a:rPr lang="en-US" sz="1600" b="1" dirty="0" smtClean="0"/>
              <a:t/>
            </a:r>
            <a:br>
              <a:rPr lang="en-US" sz="1600" b="1" dirty="0" smtClean="0"/>
            </a:br>
            <a:r>
              <a:rPr lang="en-US" sz="1600" b="1" dirty="0" smtClean="0"/>
              <a:t>Key Findings</a:t>
            </a:r>
            <a:br>
              <a:rPr lang="en-US" sz="1600" b="1" dirty="0" smtClean="0"/>
            </a:br>
            <a:r>
              <a:rPr lang="en-US" sz="1600" dirty="0" smtClean="0"/>
              <a:t>Customers </a:t>
            </a:r>
            <a:r>
              <a:rPr lang="en-US" sz="1600" dirty="0"/>
              <a:t>without technical </a:t>
            </a:r>
            <a:r>
              <a:rPr lang="en-US" sz="1600" dirty="0" smtClean="0"/>
              <a:t/>
            </a:r>
            <a:br>
              <a:rPr lang="en-US" sz="1600" dirty="0" smtClean="0"/>
            </a:br>
            <a:r>
              <a:rPr lang="en-US" sz="1600" dirty="0" smtClean="0"/>
              <a:t>support </a:t>
            </a:r>
            <a:r>
              <a:rPr lang="en-US" sz="1600" dirty="0"/>
              <a:t>tend to churn more. </a:t>
            </a:r>
            <a:br>
              <a:rPr lang="en-US" sz="1600" dirty="0"/>
            </a:br>
            <a:r>
              <a:rPr lang="en-US" sz="1600" dirty="0"/>
              <a:t>Electronic check users show </a:t>
            </a:r>
            <a:r>
              <a:rPr lang="en-US" sz="1600" dirty="0" smtClean="0"/>
              <a:t/>
            </a:r>
            <a:br>
              <a:rPr lang="en-US" sz="1600" dirty="0" smtClean="0"/>
            </a:br>
            <a:r>
              <a:rPr lang="en-US" sz="1600" dirty="0" smtClean="0"/>
              <a:t>relatively </a:t>
            </a:r>
            <a:r>
              <a:rPr lang="en-US" sz="1600" dirty="0"/>
              <a:t>higher churn. </a:t>
            </a:r>
            <a:br>
              <a:rPr lang="en-US" sz="1600" dirty="0"/>
            </a:br>
            <a:endParaRPr lang="en-US" sz="1600" dirty="0"/>
          </a:p>
        </p:txBody>
      </p:sp>
      <p:sp>
        <p:nvSpPr>
          <p:cNvPr id="3" name="Content Placeholder 2"/>
          <p:cNvSpPr>
            <a:spLocks noGrp="1"/>
          </p:cNvSpPr>
          <p:nvPr>
            <p:ph idx="1"/>
          </p:nvPr>
        </p:nvSpPr>
        <p:spPr>
          <a:xfrm>
            <a:off x="684212" y="73892"/>
            <a:ext cx="8534400" cy="480290"/>
          </a:xfrm>
        </p:spPr>
        <p:txBody>
          <a:bodyPr/>
          <a:lstStyle/>
          <a:p>
            <a:r>
              <a:rPr lang="en-US" b="1" dirty="0"/>
              <a:t>Services &amp; Payment Analysis</a:t>
            </a:r>
          </a:p>
        </p:txBody>
      </p:sp>
      <p:pic>
        <p:nvPicPr>
          <p:cNvPr id="4" name="Picture 3"/>
          <p:cNvPicPr/>
          <p:nvPr/>
        </p:nvPicPr>
        <p:blipFill>
          <a:blip r:embed="rId2"/>
          <a:stretch>
            <a:fillRect/>
          </a:stretch>
        </p:blipFill>
        <p:spPr>
          <a:xfrm>
            <a:off x="504463" y="484909"/>
            <a:ext cx="5781242" cy="3325091"/>
          </a:xfrm>
          <a:prstGeom prst="rect">
            <a:avLst/>
          </a:prstGeom>
        </p:spPr>
      </p:pic>
      <p:pic>
        <p:nvPicPr>
          <p:cNvPr id="6" name="Picture 5"/>
          <p:cNvPicPr/>
          <p:nvPr/>
        </p:nvPicPr>
        <p:blipFill>
          <a:blip r:embed="rId3"/>
          <a:stretch>
            <a:fillRect/>
          </a:stretch>
        </p:blipFill>
        <p:spPr>
          <a:xfrm>
            <a:off x="6491575" y="415636"/>
            <a:ext cx="5454073" cy="3325091"/>
          </a:xfrm>
          <a:prstGeom prst="rect">
            <a:avLst/>
          </a:prstGeom>
        </p:spPr>
      </p:pic>
      <p:pic>
        <p:nvPicPr>
          <p:cNvPr id="7" name="Picture 6"/>
          <p:cNvPicPr/>
          <p:nvPr/>
        </p:nvPicPr>
        <p:blipFill>
          <a:blip r:embed="rId4"/>
          <a:stretch>
            <a:fillRect/>
          </a:stretch>
        </p:blipFill>
        <p:spPr>
          <a:xfrm>
            <a:off x="4097048" y="3874654"/>
            <a:ext cx="6672552" cy="2867891"/>
          </a:xfrm>
          <a:prstGeom prst="rect">
            <a:avLst/>
          </a:prstGeom>
        </p:spPr>
      </p:pic>
    </p:spTree>
    <p:extLst>
      <p:ext uri="{BB962C8B-B14F-4D97-AF65-F5344CB8AC3E}">
        <p14:creationId xmlns:p14="http://schemas.microsoft.com/office/powerpoint/2010/main" val="29935102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1265382"/>
            <a:ext cx="8534400" cy="4729017"/>
          </a:xfrm>
        </p:spPr>
        <p:txBody>
          <a:bodyPr>
            <a:noAutofit/>
          </a:bodyPr>
          <a:lstStyle/>
          <a:p>
            <a:pPr>
              <a:lnSpc>
                <a:spcPct val="200000"/>
              </a:lnSpc>
            </a:pPr>
            <a:r>
              <a:rPr lang="en-US" sz="1600" b="1" dirty="0" smtClean="0"/>
              <a:t>Key </a:t>
            </a:r>
            <a:r>
              <a:rPr lang="en-US" sz="1600" b="1" dirty="0"/>
              <a:t>Insights</a:t>
            </a:r>
            <a:br>
              <a:rPr lang="en-US" sz="1600" b="1" dirty="0"/>
            </a:br>
            <a:r>
              <a:rPr lang="en-US" sz="1600" dirty="0"/>
              <a:t>Month-to-month customers have the highest churn. </a:t>
            </a:r>
            <a:br>
              <a:rPr lang="en-US" sz="1600" dirty="0"/>
            </a:br>
            <a:r>
              <a:rPr lang="en-US" sz="1600" dirty="0"/>
              <a:t>Short-tenure customers are more likely to leave. </a:t>
            </a:r>
            <a:br>
              <a:rPr lang="en-US" sz="1600" dirty="0"/>
            </a:br>
            <a:r>
              <a:rPr lang="en-US" sz="1600" dirty="0"/>
              <a:t>Higher monthly charges are linked with increased churn. </a:t>
            </a:r>
            <a:br>
              <a:rPr lang="en-US" sz="1600" dirty="0"/>
            </a:br>
            <a:r>
              <a:rPr lang="en-US" sz="1600" dirty="0"/>
              <a:t>Technical support contributes to customer retention. </a:t>
            </a:r>
            <a:br>
              <a:rPr lang="en-US" sz="1600" dirty="0"/>
            </a:br>
            <a:r>
              <a:rPr lang="en-US" sz="1600" dirty="0"/>
              <a:t>Long-term contracts improve customer loyalty</a:t>
            </a:r>
            <a:r>
              <a:rPr lang="en-US" sz="1400" dirty="0"/>
              <a:t>.</a:t>
            </a:r>
            <a:br>
              <a:rPr lang="en-US" sz="1400" dirty="0"/>
            </a:br>
            <a:endParaRPr lang="en-US" sz="1400" dirty="0"/>
          </a:p>
        </p:txBody>
      </p:sp>
      <p:sp>
        <p:nvSpPr>
          <p:cNvPr id="3" name="Content Placeholder 2"/>
          <p:cNvSpPr>
            <a:spLocks noGrp="1"/>
          </p:cNvSpPr>
          <p:nvPr>
            <p:ph idx="1"/>
          </p:nvPr>
        </p:nvSpPr>
        <p:spPr>
          <a:xfrm>
            <a:off x="684212" y="685801"/>
            <a:ext cx="8534400" cy="514926"/>
          </a:xfrm>
        </p:spPr>
        <p:txBody>
          <a:bodyPr/>
          <a:lstStyle/>
          <a:p>
            <a:r>
              <a:rPr lang="en-US" b="1" dirty="0"/>
              <a:t>Business Insights</a:t>
            </a:r>
            <a:endParaRPr lang="en-US" dirty="0"/>
          </a:p>
        </p:txBody>
      </p:sp>
    </p:spTree>
    <p:extLst>
      <p:ext uri="{BB962C8B-B14F-4D97-AF65-F5344CB8AC3E}">
        <p14:creationId xmlns:p14="http://schemas.microsoft.com/office/powerpoint/2010/main" val="23481318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212" y="138546"/>
            <a:ext cx="8534400" cy="1126836"/>
          </a:xfrm>
        </p:spPr>
        <p:txBody>
          <a:bodyPr/>
          <a:lstStyle/>
          <a:p>
            <a:r>
              <a:rPr lang="en-US" b="1" dirty="0"/>
              <a:t>Recommendations</a:t>
            </a:r>
          </a:p>
        </p:txBody>
      </p:sp>
      <p:sp>
        <p:nvSpPr>
          <p:cNvPr id="4" name="Rectangle 1"/>
          <p:cNvSpPr>
            <a:spLocks noGrp="1" noChangeArrowheads="1"/>
          </p:cNvSpPr>
          <p:nvPr>
            <p:ph type="title"/>
          </p:nvPr>
        </p:nvSpPr>
        <p:spPr bwMode="auto">
          <a:xfrm>
            <a:off x="684213" y="1501926"/>
            <a:ext cx="4817344" cy="3711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Promote long-term contracts. </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Improve onboarding for new customers. </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Bundle technical support services. </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Review pricing for higher-paying customers. </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Encourage automatic payment methods. </a:t>
            </a:r>
          </a:p>
        </p:txBody>
      </p:sp>
    </p:spTree>
    <p:extLst>
      <p:ext uri="{BB962C8B-B14F-4D97-AF65-F5344CB8AC3E}">
        <p14:creationId xmlns:p14="http://schemas.microsoft.com/office/powerpoint/2010/main" val="1442819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1357746"/>
            <a:ext cx="8534400" cy="4636654"/>
          </a:xfrm>
        </p:spPr>
        <p:txBody>
          <a:bodyPr>
            <a:normAutofit/>
          </a:bodyPr>
          <a:lstStyle/>
          <a:p>
            <a:pPr>
              <a:lnSpc>
                <a:spcPct val="150000"/>
              </a:lnSpc>
            </a:pPr>
            <a:r>
              <a:rPr lang="en-US" sz="1600" dirty="0"/>
              <a:t>The analysis identified contract type, tenure, monthly charges, technical support, and payment methods as key factors influencing customer churn.</a:t>
            </a:r>
            <a:br>
              <a:rPr lang="en-US" sz="1600" dirty="0"/>
            </a:br>
            <a:r>
              <a:rPr lang="en-US" sz="1600" dirty="0"/>
              <a:t>Implementing targeted retention strategies based on these findings can help improve customer satisfaction, reduce churn, and increase long-term profitability.</a:t>
            </a:r>
            <a:br>
              <a:rPr lang="en-US" sz="1600" dirty="0"/>
            </a:br>
            <a:endParaRPr lang="en-US" sz="1600" dirty="0"/>
          </a:p>
        </p:txBody>
      </p:sp>
      <p:sp>
        <p:nvSpPr>
          <p:cNvPr id="3" name="Content Placeholder 2"/>
          <p:cNvSpPr>
            <a:spLocks noGrp="1"/>
          </p:cNvSpPr>
          <p:nvPr>
            <p:ph idx="1"/>
          </p:nvPr>
        </p:nvSpPr>
        <p:spPr>
          <a:xfrm>
            <a:off x="684212" y="685800"/>
            <a:ext cx="8534400" cy="773545"/>
          </a:xfrm>
        </p:spPr>
        <p:txBody>
          <a:bodyPr/>
          <a:lstStyle/>
          <a:p>
            <a:r>
              <a:rPr lang="en-US" b="1" dirty="0"/>
              <a:t>Conclusion</a:t>
            </a:r>
          </a:p>
        </p:txBody>
      </p:sp>
    </p:spTree>
    <p:extLst>
      <p:ext uri="{BB962C8B-B14F-4D97-AF65-F5344CB8AC3E}">
        <p14:creationId xmlns:p14="http://schemas.microsoft.com/office/powerpoint/2010/main" val="148540723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42</TotalTime>
  <Words>116</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Slice</vt:lpstr>
      <vt:lpstr>Customer Churn Analysis Business Analytics Case Study ANALYSTLAB AFRICA DATA ANALYTICS INTERNSHIP</vt:lpstr>
      <vt:lpstr>Project Objective The objective of this project was to analyze customer churn data to identify factors affecting customer retention and provide data-driven recommendations to improve business performance.  Tools Used Python  Jupyter Notebook  Pandas  NumPy  Matplotlib  Seaborn </vt:lpstr>
      <vt:lpstr>PowerPoint Presentation</vt:lpstr>
      <vt:lpstr> Inspected dataset  Converted Total charge to Numeric Removed blank records  Verified data quality   </vt:lpstr>
      <vt:lpstr>              Key Findings Customer base is nearly evenly split between male and female customers.  Most customers remained with the company, while a smaller group churned.  </vt:lpstr>
      <vt:lpstr>               Key Insight Customers on month-to-month contracts experience significantly higher churn than those on one-year or two-year contracts.</vt:lpstr>
      <vt:lpstr>          Key Findings Newer customers are more likely  to churn.  Higher monthly charges are associated  with increased churn. </vt:lpstr>
      <vt:lpstr>                         Key Findings Customers without technical  support tend to churn more.  Electronic check users show  relatively higher churn.  </vt:lpstr>
      <vt:lpstr>Key Insights Month-to-month customers have the highest churn.  Short-tenure customers are more likely to leave.  Higher monthly charges are linked with increased churn.  Technical support contributes to customer retention.  Long-term contracts improve customer loyalty. </vt:lpstr>
      <vt:lpstr> Promote long-term contracts.  Improve onboarding for new customers.  Bundle technical support services.  Review pricing for higher-paying customers.  Encourage automatic payment methods. </vt:lpstr>
      <vt:lpstr>The analysis identified contract type, tenure, monthly charges, technical support, and payment methods as key factors influencing customer churn. Implementing targeted retention strategies based on these findings can help improve customer satisfaction, reduce churn, and increase long-term profitability.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 Business Analytics Case Study ANALYSTLAB AFRICA DATA ANALYTICS INTERNSHIP</dc:title>
  <dc:creator>Microsoft account</dc:creator>
  <cp:lastModifiedBy>Microsoft account</cp:lastModifiedBy>
  <cp:revision>5</cp:revision>
  <dcterms:created xsi:type="dcterms:W3CDTF">2026-08-06T17:07:51Z</dcterms:created>
  <dcterms:modified xsi:type="dcterms:W3CDTF">2026-08-06T17:49:52Z</dcterms:modified>
</cp:coreProperties>
</file>